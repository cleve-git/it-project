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4389120" cy="4389120"/>
          </a:xfrm>
          <a:prstGeom prst="ellipse">
            <a:avLst/>
          </a:prstGeom>
          <a:solidFill>
            <a:srgbClr val="1B2540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97680"/>
            <a:ext cx="3291840" cy="3291840"/>
          </a:xfrm>
          <a:prstGeom prst="ellipse">
            <a:avLst/>
          </a:prstGeom>
          <a:solidFill>
            <a:srgbClr val="141C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05840"/>
            <a:ext cx="960120" cy="960120"/>
          </a:xfrm>
          <a:prstGeom prst="ellipse">
            <a:avLst/>
          </a:prstGeom>
          <a:solidFill>
            <a:srgbClr val="1722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9" y="123626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2860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 AI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from a plain-language question to a grounded answer.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walkthrough · what we built and how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in, grounded answer out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2514600"/>
            <a:ext cx="1572768" cy="1828800"/>
          </a:xfrm>
          <a:prstGeom prst="roundRect">
            <a:avLst>
              <a:gd name="adj" fmla="val 5814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807208"/>
            <a:ext cx="786384" cy="786384"/>
          </a:xfrm>
          <a:prstGeom prst="ellipse">
            <a:avLst/>
          </a:prstGeom>
          <a:solidFill>
            <a:srgbClr val="1722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292" y="2995940"/>
            <a:ext cx="408920" cy="408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368503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04088" y="39776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852" y="330098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514600" y="2514600"/>
            <a:ext cx="1572768" cy="1828800"/>
          </a:xfrm>
          <a:prstGeom prst="roundRect">
            <a:avLst>
              <a:gd name="adj" fmla="val 5814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907792" y="2807208"/>
            <a:ext cx="786384" cy="786384"/>
          </a:xfrm>
          <a:prstGeom prst="ellipse">
            <a:avLst/>
          </a:prstGeom>
          <a:solidFill>
            <a:srgbClr val="33210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524" y="2995940"/>
            <a:ext cx="408920" cy="408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60320" y="368503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560320" y="39776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· route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084" y="3300984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370832" y="2514600"/>
            <a:ext cx="1572768" cy="1828800"/>
          </a:xfrm>
          <a:prstGeom prst="roundRect">
            <a:avLst>
              <a:gd name="adj" fmla="val 5814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764024" y="2807208"/>
            <a:ext cx="786384" cy="786384"/>
          </a:xfrm>
          <a:prstGeom prst="ellipse">
            <a:avLst/>
          </a:prstGeom>
          <a:solidFill>
            <a:srgbClr val="17223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2756" y="2995940"/>
            <a:ext cx="408920" cy="4089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416552" y="368503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416552" y="39776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schema-aware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7316" y="3300984"/>
            <a:ext cx="256032" cy="25603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227064" y="2514600"/>
            <a:ext cx="1572768" cy="1828800"/>
          </a:xfrm>
          <a:prstGeom prst="roundRect">
            <a:avLst>
              <a:gd name="adj" fmla="val 5814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620256" y="2807208"/>
            <a:ext cx="786384" cy="786384"/>
          </a:xfrm>
          <a:prstGeom prst="ellipse">
            <a:avLst/>
          </a:prstGeom>
          <a:solidFill>
            <a:srgbClr val="17331F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8988" y="2995940"/>
            <a:ext cx="408920" cy="4089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272784" y="368503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6272784" y="39776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3548" y="3300984"/>
            <a:ext cx="256032" cy="256032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8083296" y="2514600"/>
            <a:ext cx="1572768" cy="1828800"/>
          </a:xfrm>
          <a:prstGeom prst="roundRect">
            <a:avLst>
              <a:gd name="adj" fmla="val 5814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8476488" y="2807208"/>
            <a:ext cx="786384" cy="786384"/>
          </a:xfrm>
          <a:prstGeom prst="ellipse">
            <a:avLst/>
          </a:prstGeom>
          <a:solidFill>
            <a:srgbClr val="17223D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5220" y="2995940"/>
            <a:ext cx="408920" cy="40892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129016" y="368503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32" name="Text 21"/>
          <p:cNvSpPr/>
          <p:nvPr/>
        </p:nvSpPr>
        <p:spPr>
          <a:xfrm>
            <a:off x="8129016" y="39776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69780" y="3300984"/>
            <a:ext cx="256032" cy="256032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9939528" y="2514600"/>
            <a:ext cx="1572768" cy="1828800"/>
          </a:xfrm>
          <a:prstGeom prst="roundRect">
            <a:avLst>
              <a:gd name="adj" fmla="val 5814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35" name="Shape 23"/>
          <p:cNvSpPr/>
          <p:nvPr/>
        </p:nvSpPr>
        <p:spPr>
          <a:xfrm>
            <a:off x="10332720" y="2807208"/>
            <a:ext cx="786384" cy="786384"/>
          </a:xfrm>
          <a:prstGeom prst="ellipse">
            <a:avLst/>
          </a:prstGeom>
          <a:solidFill>
            <a:srgbClr val="17223D"/>
          </a:solidFill>
          <a:ln/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21452" y="2995940"/>
            <a:ext cx="408920" cy="40892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985248" y="368503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38" name="Text 25"/>
          <p:cNvSpPr/>
          <p:nvPr/>
        </p:nvSpPr>
        <p:spPr>
          <a:xfrm>
            <a:off x="9985248" y="39776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chart + source</a:t>
            </a:r>
            <a:endParaRPr lang="en-US" sz="1000" dirty="0"/>
          </a:p>
        </p:txBody>
      </p:sp>
      <p:sp>
        <p:nvSpPr>
          <p:cNvPr id="39" name="Text 26"/>
          <p:cNvSpPr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executed against your database — </a:t>
            </a:r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invented.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come only from the data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57800" cy="3291840"/>
          </a:xfrm>
          <a:prstGeom prst="roundRect">
            <a:avLst>
              <a:gd name="adj" fmla="val 2778"/>
            </a:avLst>
          </a:prstGeom>
          <a:solidFill>
            <a:srgbClr val="10261B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06040"/>
            <a:ext cx="685800" cy="685800"/>
          </a:xfrm>
          <a:prstGeom prst="ellipse">
            <a:avLst/>
          </a:prstGeom>
          <a:solidFill>
            <a:srgbClr val="17331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7706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97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query results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35661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SQL on the live database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the returned rows exactly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source tables (citation)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data says 1+1=3, it answers 3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2286000"/>
            <a:ext cx="5257800" cy="3291840"/>
          </a:xfrm>
          <a:prstGeom prst="roundRect">
            <a:avLst>
              <a:gd name="adj" fmla="val 2778"/>
            </a:avLst>
          </a:prstGeom>
          <a:solidFill>
            <a:srgbClr val="2A1620"/>
          </a:solidFill>
          <a:ln w="15875">
            <a:solidFill>
              <a:srgbClr val="F8717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606040"/>
            <a:ext cx="685800" cy="685800"/>
          </a:xfrm>
          <a:prstGeom prst="ellipse">
            <a:avLst/>
          </a:prstGeom>
          <a:solidFill>
            <a:srgbClr val="3A16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77063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697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from world knowledge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29400" y="35661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i="1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capital of France?”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declined, not “Paris”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questions are refused and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as out-of-scope.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build on the last query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“top 5 customers by revenue”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SUM(p.amount) … ORDER BY revenue DESC LIMIT 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1B254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 (follow-up)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“only the ones in Bandung”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SUM(p.amount) … </a:t>
            </a:r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c.city='Bandung'</a:t>
            </a:r>
            <a:pPr indent="0" marL="0">
              <a:buNone/>
            </a:pPr>
            <a:r>
              <a:rPr lang="en-US" sz="1050" dirty="0">
                <a:solidFill>
                  <a:srgbClr val="95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… LIMIT 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0" y="2926080"/>
            <a:ext cx="822960" cy="822960"/>
          </a:xfrm>
          <a:prstGeom prst="ellipse">
            <a:avLst/>
          </a:prstGeom>
          <a:solidFill>
            <a:srgbClr val="17223D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2630" y="3123590"/>
            <a:ext cx="427939" cy="42793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309360" y="39319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the earlier filters &amp; joins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309360" y="4434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question and the SQL it ran are fed back to the model, so a short follow-up adapts the query instead of starting over.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by design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97280" y="2468880"/>
            <a:ext cx="822960" cy="822960"/>
          </a:xfrm>
          <a:prstGeom prst="ellipse">
            <a:avLst/>
          </a:prstGeom>
          <a:solidFill>
            <a:srgbClr val="17331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4790" y="26663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97280" y="352044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10261B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9728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926080" y="352044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10261B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97280" y="4572000"/>
            <a:ext cx="822960" cy="822960"/>
          </a:xfrm>
          <a:prstGeom prst="ellipse">
            <a:avLst/>
          </a:prstGeom>
          <a:solidFill>
            <a:srgbClr val="3A162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790" y="476951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03120" y="4663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6035040" y="269748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2A1620"/>
          </a:solidFill>
          <a:ln w="15875">
            <a:solidFill>
              <a:srgbClr val="F8717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035040" y="2697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863840" y="269748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2A1620"/>
          </a:solidFill>
          <a:ln w="15875">
            <a:solidFill>
              <a:srgbClr val="F8717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863840" y="2697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9692640" y="269748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2A1620"/>
          </a:solidFill>
          <a:ln w="15875">
            <a:solidFill>
              <a:srgbClr val="F8717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9692640" y="2697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035040" y="352044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2A1620"/>
          </a:solidFill>
          <a:ln w="15875">
            <a:solidFill>
              <a:srgbClr val="F8717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03504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7863840" y="352044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2A1620"/>
          </a:solidFill>
          <a:ln w="15875">
            <a:solidFill>
              <a:srgbClr val="F8717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786384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9692640" y="352044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2A1620"/>
          </a:solidFill>
          <a:ln w="15875">
            <a:solidFill>
              <a:srgbClr val="F8717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969264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SQL is validated before it ever touches the database.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cites its source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2011680" y="2377440"/>
            <a:ext cx="8138160" cy="3017520"/>
          </a:xfrm>
          <a:prstGeom prst="roundRect">
            <a:avLst>
              <a:gd name="adj" fmla="val 3030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68880" y="2743200"/>
            <a:ext cx="640080" cy="640080"/>
          </a:xfrm>
          <a:prstGeom prst="ellipse">
            <a:avLst/>
          </a:prstGeom>
          <a:solidFill>
            <a:srgbClr val="1722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2499" y="28968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27889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total revenue is Rp 14,970,759,000.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7947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80360" y="37673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from: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754880" y="3767328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B254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754880" y="37673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72200" y="3767328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B254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172200" y="37673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589520" y="3767328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B254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589520" y="37673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51460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rows  ·  live company database (PostgreSQL)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trace exactly where a number came from.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filter &amp; export every query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743200"/>
            <a:ext cx="914400" cy="914400"/>
          </a:xfrm>
          <a:prstGeom prst="ellipse">
            <a:avLst/>
          </a:prstGeom>
          <a:solidFill>
            <a:srgbClr val="1722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836" y="29626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794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user · date · status · query text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237744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46420" y="2743200"/>
            <a:ext cx="914400" cy="914400"/>
          </a:xfrm>
          <a:prstGeom prst="ellipse">
            <a:avLst/>
          </a:prstGeom>
          <a:solidFill>
            <a:srgbClr val="3A16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6" y="296265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3794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0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report with a summary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237744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95460" y="2743200"/>
            <a:ext cx="914400" cy="914400"/>
          </a:xfrm>
          <a:prstGeom prst="ellipse">
            <a:avLst/>
          </a:prstGeom>
          <a:solidFill>
            <a:srgbClr val="17331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4916" y="296265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3794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21040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spreadsheets / further analysis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status: </a:t>
            </a:r>
            <a:pPr algn="ctr" indent="0" marL="0">
              <a:buNone/>
            </a:pPr>
            <a:r>
              <a:rPr lang="en-US" sz="140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that errors or returns no data is logged as </a:t>
            </a:r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pPr algn="ctr" indent="0" marL="0">
              <a:buNone/>
            </a:pPr>
            <a:r>
              <a:rPr lang="en-US" sz="140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a false Success.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&amp; a first impression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57800" cy="3200400"/>
          </a:xfrm>
          <a:prstGeom prst="roundRect">
            <a:avLst>
              <a:gd name="adj" fmla="val 2857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51760"/>
            <a:ext cx="868680" cy="868680"/>
          </a:xfrm>
          <a:prstGeom prst="ellipse">
            <a:avLst/>
          </a:prstGeom>
          <a:solidFill>
            <a:srgbClr val="33210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286024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Voice-to-text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mic, speak your question, and it transcribes straight into the chat (Web Speech API).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0584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 “what is our total revenue”  →  text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2286000"/>
            <a:ext cx="5257800" cy="3200400"/>
          </a:xfrm>
          <a:prstGeom prst="roundRect">
            <a:avLst>
              <a:gd name="adj" fmla="val 2857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651760"/>
            <a:ext cx="868680" cy="868680"/>
          </a:xfrm>
          <a:prstGeom prst="ellipse">
            <a:avLst/>
          </a:prstGeom>
          <a:solidFill>
            <a:srgbClr val="1722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163" y="2860243"/>
            <a:ext cx="451714" cy="4517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24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37033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marketing homepage before login — hero, feature grid, how-it-works, and a live theme toggle.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62940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themeable across the whole app.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layered, LLM-orchestrated stack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532888"/>
            <a:ext cx="658368" cy="658368"/>
          </a:xfrm>
          <a:prstGeom prst="ellipse">
            <a:avLst/>
          </a:prstGeom>
          <a:solidFill>
            <a:srgbClr val="1722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408" y="2690896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468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0" y="24688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React 19 · Tailwind · Plotly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35661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767328"/>
            <a:ext cx="658368" cy="658368"/>
          </a:xfrm>
          <a:prstGeom prst="ellipse">
            <a:avLst/>
          </a:prstGeom>
          <a:solidFill>
            <a:srgbClr val="1722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408" y="3925336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703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72000" y="370332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guardrails · repositories · query log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01768"/>
            <a:ext cx="658368" cy="658368"/>
          </a:xfrm>
          <a:prstGeom prst="ellipse">
            <a:avLst/>
          </a:prstGeom>
          <a:solidFill>
            <a:srgbClr val="1722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08" y="5159776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37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572000" y="49377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(Supabase) · Groq LLM (gpt-oss-120b)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rate-limited? The agent falls back to safe SQL patterns — the app keeps working.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shipped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6292"/>
            <a:ext cx="402336" cy="402336"/>
          </a:xfrm>
          <a:prstGeom prst="ellipse">
            <a:avLst/>
          </a:prstGeom>
          <a:solidFill>
            <a:srgbClr val="17331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41" y="2432853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48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SQL, read-only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16552" y="214884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45152" y="2336292"/>
            <a:ext cx="402336" cy="402336"/>
          </a:xfrm>
          <a:prstGeom prst="ellipse">
            <a:avLst/>
          </a:prstGeom>
          <a:solidFill>
            <a:srgbClr val="17331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713" y="2432853"/>
            <a:ext cx="209215" cy="2092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93792" y="2148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chart + explanation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93024" y="2148840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421624" y="2336292"/>
            <a:ext cx="402336" cy="402336"/>
          </a:xfrm>
          <a:prstGeom prst="ellipse">
            <a:avLst/>
          </a:prstGeom>
          <a:solidFill>
            <a:srgbClr val="17331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185" y="2432853"/>
            <a:ext cx="209215" cy="20921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70264" y="2148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memory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127248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3314700"/>
            <a:ext cx="402336" cy="402336"/>
          </a:xfrm>
          <a:prstGeom prst="ellipse">
            <a:avLst/>
          </a:prstGeom>
          <a:solidFill>
            <a:srgbClr val="17331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41" y="3411261"/>
            <a:ext cx="209215" cy="20921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312724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grounding + citation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416552" y="3127248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645152" y="3314700"/>
            <a:ext cx="402336" cy="402336"/>
          </a:xfrm>
          <a:prstGeom prst="ellipse">
            <a:avLst/>
          </a:prstGeom>
          <a:solidFill>
            <a:srgbClr val="17331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1713" y="3411261"/>
            <a:ext cx="209215" cy="20921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93792" y="312724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decline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193024" y="3127248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421624" y="3314700"/>
            <a:ext cx="402336" cy="402336"/>
          </a:xfrm>
          <a:prstGeom prst="ellipse">
            <a:avLst/>
          </a:prstGeom>
          <a:solidFill>
            <a:srgbClr val="17331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8185" y="3411261"/>
            <a:ext cx="209215" cy="20921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970264" y="312724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log + filters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40080" y="4105656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868680" y="4293108"/>
            <a:ext cx="402336" cy="402336"/>
          </a:xfrm>
          <a:prstGeom prst="ellipse">
            <a:avLst/>
          </a:prstGeom>
          <a:solidFill>
            <a:srgbClr val="17331F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241" y="4389669"/>
            <a:ext cx="209215" cy="20921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17320" y="4105656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CSV export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4416552" y="4105656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645152" y="4293108"/>
            <a:ext cx="402336" cy="402336"/>
          </a:xfrm>
          <a:prstGeom prst="ellipse">
            <a:avLst/>
          </a:prstGeom>
          <a:solidFill>
            <a:srgbClr val="17331F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1713" y="4389669"/>
            <a:ext cx="209215" cy="20921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93792" y="4105656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Voice-to-text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8193024" y="4105656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421624" y="4293108"/>
            <a:ext cx="402336" cy="402336"/>
          </a:xfrm>
          <a:prstGeom prst="ellipse">
            <a:avLst/>
          </a:prstGeom>
          <a:solidFill>
            <a:srgbClr val="17331F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8185" y="4389669"/>
            <a:ext cx="209215" cy="20921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970264" y="4105656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theme</a:t>
            </a:r>
            <a:endParaRPr lang="en-US" sz="1300" dirty="0"/>
          </a:p>
        </p:txBody>
      </p:sp>
      <p:sp>
        <p:nvSpPr>
          <p:cNvPr id="40" name="Shape 29"/>
          <p:cNvSpPr/>
          <p:nvPr/>
        </p:nvSpPr>
        <p:spPr>
          <a:xfrm>
            <a:off x="640080" y="5084064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868680" y="5271516"/>
            <a:ext cx="402336" cy="402336"/>
          </a:xfrm>
          <a:prstGeom prst="ellipse">
            <a:avLst/>
          </a:prstGeom>
          <a:solidFill>
            <a:srgbClr val="17331F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5241" y="5368077"/>
            <a:ext cx="209215" cy="209215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417320" y="5084064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Icon-rail UI overhaul</a:t>
            </a:r>
            <a:endParaRPr lang="en-US" sz="1300" dirty="0"/>
          </a:p>
        </p:txBody>
      </p:sp>
      <p:sp>
        <p:nvSpPr>
          <p:cNvPr id="44" name="Shape 32"/>
          <p:cNvSpPr/>
          <p:nvPr/>
        </p:nvSpPr>
        <p:spPr>
          <a:xfrm>
            <a:off x="4416552" y="5084064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4645152" y="5271516"/>
            <a:ext cx="402336" cy="402336"/>
          </a:xfrm>
          <a:prstGeom prst="ellipse">
            <a:avLst/>
          </a:prstGeom>
          <a:solidFill>
            <a:srgbClr val="17331F"/>
          </a:solidFill>
          <a:ln/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1713" y="5368077"/>
            <a:ext cx="209215" cy="209215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5193792" y="5084064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48" name="Shape 35"/>
          <p:cNvSpPr/>
          <p:nvPr/>
        </p:nvSpPr>
        <p:spPr>
          <a:xfrm>
            <a:off x="8193024" y="5084064"/>
            <a:ext cx="3520440" cy="777240"/>
          </a:xfrm>
          <a:prstGeom prst="roundRect">
            <a:avLst>
              <a:gd name="adj" fmla="val 11765"/>
            </a:avLst>
          </a:prstGeom>
          <a:solidFill>
            <a:srgbClr val="141C30"/>
          </a:solidFill>
          <a:ln w="12700">
            <a:solidFill>
              <a:srgbClr val="26334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49" name="Shape 36"/>
          <p:cNvSpPr/>
          <p:nvPr/>
        </p:nvSpPr>
        <p:spPr>
          <a:xfrm>
            <a:off x="8421624" y="5271516"/>
            <a:ext cx="402336" cy="402336"/>
          </a:xfrm>
          <a:prstGeom prst="ellipse">
            <a:avLst/>
          </a:prstGeom>
          <a:solidFill>
            <a:srgbClr val="17331F"/>
          </a:solidFill>
          <a:ln/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8185" y="5368077"/>
            <a:ext cx="209215" cy="209215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8970264" y="5084064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Execution-accuracy benchmark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POINT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exposed a broken schema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257800" cy="2926080"/>
          </a:xfrm>
          <a:prstGeom prst="roundRect">
            <a:avLst>
              <a:gd name="adj" fmla="val 3125"/>
            </a:avLst>
          </a:prstGeom>
          <a:solidFill>
            <a:srgbClr val="2A1620"/>
          </a:solidFill>
          <a:ln w="15875">
            <a:solidFill>
              <a:srgbClr val="F8717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97480"/>
            <a:ext cx="640080" cy="640080"/>
          </a:xfrm>
          <a:prstGeom prst="ellipse">
            <a:avLst/>
          </a:prstGeom>
          <a:solidFill>
            <a:srgbClr val="3A16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739" y="28510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566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5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status='Success', tier='Premium'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" y="4114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→ Rp 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60120" y="4709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core query returned nothing.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2377440"/>
            <a:ext cx="5257800" cy="2926080"/>
          </a:xfrm>
          <a:prstGeom prst="roundRect">
            <a:avLst>
              <a:gd name="adj" fmla="val 3125"/>
            </a:avLst>
          </a:prstGeom>
          <a:solidFill>
            <a:srgbClr val="10261B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697480"/>
            <a:ext cx="640080" cy="640080"/>
          </a:xfrm>
          <a:prstGeom prst="ellipse">
            <a:avLst/>
          </a:prstGeom>
          <a:solidFill>
            <a:srgbClr val="17331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299" y="285109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583680" y="3566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5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status='paid', tier='Gold' (real enums)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583680" y="4114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→ Rp 14.97B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583680" y="4709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the schema prompt + benchmark gold.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206240"/>
            <a:ext cx="4206240" cy="4206240"/>
          </a:xfrm>
          <a:prstGeom prst="ellipse">
            <a:avLst/>
          </a:prstGeom>
          <a:solidFill>
            <a:srgbClr val="141C30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554480"/>
            <a:ext cx="3840480" cy="3840480"/>
          </a:xfrm>
          <a:prstGeom prst="ellipse">
            <a:avLst/>
          </a:prstGeom>
          <a:solidFill>
            <a:srgbClr val="1B2540"/>
          </a:solidFill>
          <a:ln/>
        </p:spPr>
      </p:sp>
      <p:sp>
        <p:nvSpPr>
          <p:cNvPr id="4" name="Shape 2"/>
          <p:cNvSpPr/>
          <p:nvPr/>
        </p:nvSpPr>
        <p:spPr>
          <a:xfrm>
            <a:off x="5358384" y="1463040"/>
            <a:ext cx="1463040" cy="1463040"/>
          </a:xfrm>
          <a:prstGeom prst="ellipse">
            <a:avLst/>
          </a:prstGeom>
          <a:solidFill>
            <a:srgbClr val="1722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4" y="1814170"/>
            <a:ext cx="760781" cy="7607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6324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data anything.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14400" y="39776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· grounded · conversational.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475488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5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github.com/Cleve-git/IT-Project  ·  branch: THE-GOAT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Conda AI — How It Works</dc:title>
  <dc:subject>PptxGenJS Presentation</dc:subject>
  <dc:creator>PptxGenJS</dc:creator>
  <cp:lastModifiedBy>PptxGenJS</cp:lastModifiedBy>
  <cp:revision>1</cp:revision>
  <dcterms:created xsi:type="dcterms:W3CDTF">2026-07-08T00:32:10Z</dcterms:created>
  <dcterms:modified xsi:type="dcterms:W3CDTF">2026-07-08T00:32:10Z</dcterms:modified>
</cp:coreProperties>
</file>